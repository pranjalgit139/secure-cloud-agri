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4" r:id="rId9"/>
    <p:sldId id="271" r:id="rId10"/>
    <p:sldId id="272" r:id="rId11"/>
    <p:sldId id="265" r:id="rId12"/>
    <p:sldId id="266" r:id="rId13"/>
    <p:sldId id="267" r:id="rId14"/>
    <p:sldId id="268" r:id="rId15"/>
  </p:sldIdLst>
  <p:sldSz cx="9144000" cy="6858000" type="screen4x3"/>
  <p:notesSz cx="9144000" cy="6858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entury Schoolbook" panose="02040604050505020304" pitchFamily="18" charset="0"/>
      <p:regular r:id="rId21"/>
      <p:bold r:id="rId22"/>
      <p:italic r:id="rId23"/>
      <p:boldItalic r:id="rId24"/>
    </p:embeddedFont>
    <p:embeddedFont>
      <p:font typeface="Poppins Medium" panose="020B0604020202020204" charset="0"/>
      <p:regular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47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cc8714c89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5cc8714c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cc8714c89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5cc8714c89_2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803554" y="214706"/>
            <a:ext cx="753689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5816578"/>
            <a:ext cx="1062142" cy="1041418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6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Google Shape;8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9;p27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1" i="0" u="none" strike="noStrike" cap="none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1" i="0" u="none" strike="noStrike" cap="none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1280160" y="5943053"/>
            <a:ext cx="7496601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MITSoC,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3840480"/>
            <a:ext cx="373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9445" marR="0" lvl="0" indent="-5187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267300" y="1951900"/>
            <a:ext cx="8609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“Secure Cloud Storage To Farm Data”</a:t>
            </a:r>
            <a:endParaRPr dirty="0">
              <a:solidFill>
                <a:srgbClr val="07376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22783" y="2978798"/>
            <a:ext cx="74967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IN" sz="1600" b="1" dirty="0"/>
              <a:t>MITU23BTCSD124</a:t>
            </a:r>
            <a:r>
              <a:rPr lang="en-IN" sz="1600" dirty="0"/>
              <a:t> </a:t>
            </a: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:- Pranjali Kulkarni</a:t>
            </a:r>
          </a:p>
          <a:p>
            <a:pPr lvl="0" algn="ctr"/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MITU23BTCSD065:-Shivraj Yadav</a:t>
            </a:r>
          </a:p>
          <a:p>
            <a:pPr lvl="0" algn="ctr"/>
            <a:r>
              <a:rPr lang="en-IN" sz="1600" b="1" dirty="0"/>
              <a:t>MITU23BTCSD040</a:t>
            </a:r>
            <a:r>
              <a:rPr lang="en-IN" sz="1600" dirty="0"/>
              <a:t> </a:t>
            </a: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:-Om Kalbhor</a:t>
            </a:r>
          </a:p>
          <a:p>
            <a:pPr lvl="0" algn="ctr"/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sz="1600" b="1" dirty="0"/>
              <a:t>MITU23BTCSD034</a:t>
            </a:r>
            <a:r>
              <a:rPr lang="en-IN" sz="1600" dirty="0"/>
              <a:t> </a:t>
            </a: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:- </a:t>
            </a:r>
            <a:r>
              <a:rPr lang="en-IN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Mayur Magar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r>
              <a:rPr lang="en-IN" alt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Prof. Aditya Pai H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878691" y="555528"/>
            <a:ext cx="338488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Presentation</a:t>
            </a:r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cc8714c89_0_4"/>
          <p:cNvSpPr txBox="1">
            <a:spLocks noGrp="1"/>
          </p:cNvSpPr>
          <p:nvPr>
            <p:ph type="title"/>
          </p:nvPr>
        </p:nvSpPr>
        <p:spPr>
          <a:xfrm>
            <a:off x="830592" y="408046"/>
            <a:ext cx="693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7" name="Google Shape;57;g5cc8714c89_0_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58" name="Google Shape;58;g5cc8714c89_0_4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9" name="Google Shape;59;g5cc8714c89_0_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5cc8714c89_0_4"/>
          <p:cNvSpPr txBox="1"/>
          <p:nvPr/>
        </p:nvSpPr>
        <p:spPr>
          <a:xfrm>
            <a:off x="830590" y="1284140"/>
            <a:ext cx="7848600" cy="4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endParaRPr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Concepts &amp; Methods</a:t>
            </a:r>
            <a:endParaRPr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Review 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Tools and Languages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 and Future Work</a:t>
            </a:r>
            <a:endParaRPr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</a:t>
            </a:r>
            <a:endParaRPr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Q&amp;A</a:t>
            </a:r>
            <a:endParaRPr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66" name="Google Shape;66;p4"/>
          <p:cNvSpPr txBox="1"/>
          <p:nvPr/>
        </p:nvSpPr>
        <p:spPr>
          <a:xfrm>
            <a:off x="417107" y="22458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r>
              <a:rPr lang="en-US" sz="2200" b="0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 txBox="1"/>
          <p:nvPr/>
        </p:nvSpPr>
        <p:spPr>
          <a:xfrm>
            <a:off x="417107" y="903763"/>
            <a:ext cx="7812493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agriculture Data play a crucial role in the Improving productivity and issued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/>
              <a:t>Efficiency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dirty="0"/>
              <a:t>Sustainability</a:t>
            </a:r>
            <a:r>
              <a:rPr lang="en-US" dirty="0"/>
              <a:t>Farmers </a:t>
            </a:r>
            <a:r>
              <a:rPr lang="en-US" sz="1600" dirty="0"/>
              <a:t>today collect vast amounts of information . </a:t>
            </a:r>
          </a:p>
          <a:p>
            <a:pPr lvl="0" algn="just"/>
            <a:r>
              <a:rPr lang="en-US" dirty="0"/>
              <a:t>.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/>
              <a:t>Managing and analyzing this growing volume of data requires reliable and scalable storage solutions 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US" sz="1600" dirty="0"/>
              <a:t>offers an effective way to store, access, and share farm data securely over the internet . 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76" name="Google Shape;76;p6"/>
          <p:cNvSpPr txBox="1"/>
          <p:nvPr/>
        </p:nvSpPr>
        <p:spPr>
          <a:xfrm>
            <a:off x="528744" y="325664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r>
              <a:rPr lang="en-US" sz="2200" b="0" i="0" u="none" strike="noStrike" cap="none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dirty="0">
              <a:solidFill>
                <a:srgbClr val="073763"/>
              </a:solidFill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1379346" y="6104088"/>
            <a:ext cx="73788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/>
        </p:nvSpPr>
        <p:spPr>
          <a:xfrm>
            <a:off x="489450" y="903763"/>
            <a:ext cx="8088900" cy="178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just">
              <a:buSzPts val="1400"/>
              <a:buChar char="●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</a:t>
            </a:r>
            <a:r>
              <a:rPr lang="en-US" dirty="0"/>
              <a:t>today generate vast amounts of data from sensors, drones, and weather systems.</a:t>
            </a:r>
            <a:br>
              <a:rPr lang="en-US" sz="1600" dirty="0"/>
            </a:br>
            <a:r>
              <a:rPr lang="en-US" dirty="0"/>
              <a:t>Traditional storage methods are often limited, insecure, and difficult to access remotely.</a:t>
            </a:r>
            <a:br>
              <a:rPr lang="en-US" sz="1600" dirty="0"/>
            </a:br>
            <a:r>
              <a:rPr lang="en-US" dirty="0"/>
              <a:t>This leads to data loss, poor analysis, and inefficient farm management decisions.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just">
              <a:buSzPts val="1400"/>
              <a:buChar char="●"/>
            </a:pPr>
            <a:r>
              <a:rPr lang="en-US" dirty="0"/>
              <a:t>There is a growing need for a secure and scalable cloud storage solution to manage farm data effectively.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489450" y="3415412"/>
            <a:ext cx="8197230" cy="224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/>
              <a:t>provide farmers with a secure and scalable cloud storage solution for efficient management and access of farm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to explore </a:t>
            </a:r>
            <a:r>
              <a:rPr lang="en-US" dirty="0"/>
              <a:t>how cloud storage can be used to securely store, manage, and access farm data efficiently. It aims to provide farmers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scalable and reliable data storage solution that supports real-time decision-making. Additionally, it focuses on improving data sharing, reducing storage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enhancing the overall productivity of agricultural operations through cloud-based technologies.</a:t>
            </a:r>
          </a:p>
          <a:p>
            <a:br>
              <a:rPr lang="en-US" sz="1600" dirty="0"/>
            </a:b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528744" y="2634438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r>
              <a:rPr lang="en-US" sz="2200" b="0" i="0" u="none" strike="noStrike" cap="none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dirty="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87" name="Google Shape;87;p8"/>
          <p:cNvSpPr txBox="1"/>
          <p:nvPr/>
        </p:nvSpPr>
        <p:spPr>
          <a:xfrm>
            <a:off x="417094" y="-11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Concepts and Methods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88" name="Google Shape;88;p8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/>
        </p:nvSpPr>
        <p:spPr>
          <a:xfrm>
            <a:off x="304800" y="757084"/>
            <a:ext cx="8382001" cy="420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</a:t>
            </a:r>
            <a:r>
              <a:rPr lang="en-US" dirty="0"/>
              <a:t> Cloud storage allows farmers to securely store data from sensors, drones, weather stations, and machinery on remote servers, enabling easy access, scalability, and real-time updates.</a:t>
            </a:r>
          </a:p>
          <a:p>
            <a:pPr>
              <a:lnSpc>
                <a:spcPct val="115000"/>
              </a:lnSpc>
            </a:pPr>
            <a:r>
              <a:rPr lang="en-US" dirty="0"/>
              <a:t> Farmers upload collected data to the cloud, manage it using secure access controls, and analyze it through cloud-based tools to make informed decisions for crop management, resource optimization, and productivity improvement.</a:t>
            </a:r>
          </a:p>
          <a:p>
            <a:pPr>
              <a:lnSpc>
                <a:spcPct val="115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</a:t>
            </a:r>
            <a:r>
              <a:rPr lang="en-US" dirty="0"/>
              <a:t>Cloud storage is a service that allows data to be stored on remote servers accessible via the internet instead of local storage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enables farmers to store large volumes of farm data securely and access it from anywhere.</a:t>
            </a:r>
          </a:p>
          <a:p>
            <a:r>
              <a:rPr lang="en-US" b="1" dirty="0"/>
              <a:t>      </a:t>
            </a:r>
            <a:r>
              <a:rPr lang="en-US" i="1" dirty="0"/>
              <a:t>Types of collected Data</a:t>
            </a:r>
            <a:r>
              <a:rPr lang="en-US" b="1" dirty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Soil quality and moisture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Weather and climate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Crop growth and yield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100" name="Google Shape;100;p9"/>
          <p:cNvSpPr txBox="1"/>
          <p:nvPr/>
        </p:nvSpPr>
        <p:spPr>
          <a:xfrm>
            <a:off x="426927" y="263918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Literature Survey</a:t>
            </a:r>
            <a:r>
              <a:rPr lang="en-US" sz="2200" b="0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101" name="Google Shape;101;p9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0AF330-9131-0439-8B79-243665762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9144000" cy="51742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178" name="Google Shape;178;p10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Tools and Languages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179" name="Google Shape;179;p10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779275" y="1286325"/>
            <a:ext cx="8010300" cy="4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1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Tools - </a:t>
            </a:r>
            <a:r>
              <a:rPr lang="en-IN" dirty="0"/>
              <a:t>Cloud Platforms</a:t>
            </a:r>
          </a:p>
          <a:p>
            <a:pPr>
              <a:spcBef>
                <a:spcPts val="1100"/>
              </a:spcBef>
              <a:buSzPct val="100000"/>
            </a:pPr>
            <a:r>
              <a:rPr lang="en-US" b="1" dirty="0"/>
              <a:t>Amazon Web Services (AWS):</a:t>
            </a:r>
            <a:r>
              <a:rPr lang="en-US" dirty="0"/>
              <a:t> Services like S3 for storage, EC2 for computing, and AWS IoT for sensor integration.</a:t>
            </a:r>
          </a:p>
          <a:p>
            <a:pPr eaLnBrk="1">
              <a:spcBef>
                <a:spcPts val="1100"/>
              </a:spcBef>
              <a:buSzPct val="100000"/>
            </a:pPr>
            <a:r>
              <a:rPr lang="en-IN" b="1" dirty="0"/>
              <a:t>Frontend and API Integration - </a:t>
            </a:r>
            <a:r>
              <a:rPr lang="en-US" dirty="0"/>
              <a:t>Build a simple frontend using React/HTML or Postman to test APIs</a:t>
            </a:r>
            <a:endParaRPr lang="en-IN" b="1" dirty="0"/>
          </a:p>
          <a:p>
            <a:pPr eaLnBrk="1">
              <a:spcBef>
                <a:spcPts val="1100"/>
              </a:spcBef>
              <a:buSzPct val="100000"/>
            </a:pPr>
            <a:r>
              <a:rPr lang="en-US" b="1" dirty="0"/>
              <a:t>Firebase, AWS S3, or Azure Blob Storage </a:t>
            </a:r>
            <a:r>
              <a:rPr lang="en-US" dirty="0"/>
              <a:t>- user authentication and access control rules.</a:t>
            </a:r>
            <a:endParaRPr lang="en-IN" b="1" dirty="0"/>
          </a:p>
          <a:p>
            <a:pPr eaLnBrk="1">
              <a:spcBef>
                <a:spcPts val="1100"/>
              </a:spcBef>
              <a:buSzPct val="100000"/>
            </a:pPr>
            <a:r>
              <a:rPr lang="en-US" b="1" dirty="0"/>
              <a:t>SQL / NoSQL (MongoDB, Firebase </a:t>
            </a:r>
            <a:r>
              <a:rPr lang="en-US" b="1" dirty="0" err="1"/>
              <a:t>FireStore</a:t>
            </a:r>
            <a:r>
              <a:rPr lang="en-US" b="1" dirty="0"/>
              <a:t>):</a:t>
            </a:r>
            <a:r>
              <a:rPr lang="en-US" dirty="0"/>
              <a:t> For structured and unstructured farm data storage.</a:t>
            </a:r>
          </a:p>
          <a:p>
            <a:pPr eaLnBrk="1">
              <a:spcBef>
                <a:spcPts val="1100"/>
              </a:spcBef>
              <a:buSzPct val="100000"/>
            </a:pPr>
            <a:r>
              <a:rPr lang="en-IN" b="1" dirty="0"/>
              <a:t>Security Testing - </a:t>
            </a:r>
            <a:r>
              <a:rPr lang="en-US" dirty="0"/>
              <a:t>RBAC (Role-Based Access Control) and cloud security</a:t>
            </a:r>
            <a:endParaRPr lang="en-US" b="1" dirty="0"/>
          </a:p>
          <a:p>
            <a:pPr eaLnBrk="1">
              <a:lnSpc>
                <a:spcPct val="150000"/>
              </a:lnSpc>
              <a:buSzPct val="100000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spcBef>
                <a:spcPts val="1000"/>
              </a:spcBef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spcBef>
                <a:spcPts val="1000"/>
              </a:spcBef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spcBef>
                <a:spcPts val="100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>
              <a:spcBef>
                <a:spcPts val="1000"/>
              </a:spcBef>
              <a:buSzPct val="100000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latin typeface="Poppins Medium" panose="00000600000000000000"/>
              <a:ea typeface="Poppins Medium" panose="00000600000000000000"/>
              <a:cs typeface="Poppins Medium" panose="00000600000000000000"/>
              <a:sym typeface="Poppins Medium" panose="000006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126" name="Google Shape;126;p13"/>
          <p:cNvSpPr txBox="1"/>
          <p:nvPr/>
        </p:nvSpPr>
        <p:spPr>
          <a:xfrm>
            <a:off x="417094" y="81015"/>
            <a:ext cx="8010213" cy="7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Results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127" name="Google Shape;127;p13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5A9A8A-AF6A-4E10-9001-F793E6D0D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27" y="1076465"/>
            <a:ext cx="7679094" cy="39340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63694E-922E-4790-8DDD-207EF986C3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AD689-E1DB-424D-B849-DD418144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02" y="637048"/>
            <a:ext cx="7100596" cy="412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2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2A0C3-6876-4BFF-BF34-90819EF81A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5AF651-4A99-4430-A69A-8CE58F44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39" y="780330"/>
            <a:ext cx="8444204" cy="417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23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135" name="Google Shape;135;p14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Conclusion and Future Work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136" name="Google Shape;136;p1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417094" y="1174841"/>
            <a:ext cx="78432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/>
              <a:t>Cloud storage provides a secure and scalable way to manage farm data.</a:t>
            </a:r>
            <a:br>
              <a:rPr lang="en-US" sz="1600" dirty="0"/>
            </a:br>
            <a:r>
              <a:rPr lang="en-US" dirty="0"/>
              <a:t>It allows farmers to access information anytime and make data-driven decisions.</a:t>
            </a:r>
            <a:br>
              <a:rPr lang="en-US" sz="1600" dirty="0"/>
            </a:br>
            <a:r>
              <a:rPr lang="en-US" dirty="0"/>
              <a:t>Integration with IoT and analytics improves productivity and resource efficiency.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/>
              <a:t>Future work can focus on integrating advanced AI and machine learning for predictive analytics.</a:t>
            </a:r>
          </a:p>
          <a:p>
            <a:r>
              <a:rPr lang="en-US" dirty="0"/>
              <a:t>make cloud data more accessible to small-scale farmers.</a:t>
            </a:r>
            <a:br>
              <a:rPr lang="en-US" sz="1600" dirty="0"/>
            </a:br>
            <a:r>
              <a:rPr lang="en-US" dirty="0"/>
              <a:t>Enhanced security and blockchain-based solutions can further protect farm data and ensure transparency.</a:t>
            </a:r>
            <a:br>
              <a:rPr lang="en-US" sz="1600" dirty="0"/>
            </a:br>
            <a:endParaRPr sz="1600" dirty="0"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cc8714c89_2_35"/>
          <p:cNvSpPr txBox="1">
            <a:spLocks noGrp="1"/>
          </p:cNvSpPr>
          <p:nvPr>
            <p:ph type="body" idx="1"/>
          </p:nvPr>
        </p:nvSpPr>
        <p:spPr>
          <a:xfrm>
            <a:off x="241300" y="1219835"/>
            <a:ext cx="8661400" cy="45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6400" lvl="0" indent="-406400" algn="just">
              <a:lnSpc>
                <a:spcPct val="150000"/>
              </a:lnSpc>
            </a:pPr>
            <a:r>
              <a:rPr 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 </a:t>
            </a:r>
            <a:r>
              <a:rPr lang="en-US" sz="1400" b="1" dirty="0"/>
              <a:t>Shekhar, S. (2025).</a:t>
            </a:r>
            <a:r>
              <a:rPr lang="en-US" sz="1400" dirty="0"/>
              <a:t> </a:t>
            </a:r>
            <a:r>
              <a:rPr lang="en-US" sz="1400" i="1" dirty="0"/>
              <a:t>Cloud Computing in Smart Agriculture: Data Storage, Processing, and Analysis</a:t>
            </a:r>
            <a:r>
              <a:rPr lang="en-US" sz="1400" dirty="0"/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6400" lvl="0" indent="-406400"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[3] </a:t>
            </a:r>
            <a:r>
              <a:rPr lang="en-US" sz="1400" dirty="0"/>
              <a:t>This paper explores how cloud computing facilitates scalable data storage, real-time monitoring, and predictive analytics in agriculture</a:t>
            </a:r>
            <a:endParaRPr sz="1400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06400" lvl="0" indent="-406400"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[4] </a:t>
            </a:r>
            <a:r>
              <a:rPr lang="en-US" sz="1400" b="1" dirty="0"/>
              <a:t>Kumar, V. (2024).</a:t>
            </a:r>
            <a:r>
              <a:rPr lang="en-US" sz="1400" dirty="0"/>
              <a:t> </a:t>
            </a:r>
            <a:r>
              <a:rPr lang="en-US" sz="1400" i="1" dirty="0"/>
              <a:t>A Comprehensive Review on Smart and Sustainable Agriculture</a:t>
            </a:r>
            <a:r>
              <a:rPr lang="en-US" sz="1400" dirty="0"/>
              <a:t>. ScienceDirect.</a:t>
            </a:r>
            <a:br>
              <a:rPr lang="en-US" sz="1400" dirty="0"/>
            </a:br>
            <a:r>
              <a:rPr lang="en-US" sz="1400" dirty="0"/>
              <a:t>The review discusses the integration of IoT, cloud computing . </a:t>
            </a:r>
            <a:endParaRPr sz="1400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44" name="Google Shape;144;g5cc8714c89_2_35"/>
          <p:cNvSpPr txBox="1"/>
          <p:nvPr/>
        </p:nvSpPr>
        <p:spPr>
          <a:xfrm>
            <a:off x="375529" y="233688"/>
            <a:ext cx="2874298" cy="72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dirty="0"/>
          </a:p>
        </p:txBody>
      </p:sp>
      <p:sp>
        <p:nvSpPr>
          <p:cNvPr id="145" name="Google Shape;145;g5cc8714c89_2_3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146" name="Google Shape;146;g5cc8714c89_2_35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7" name="Google Shape;147;g5cc8714c89_2_3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153" name="Google Shape;153;p16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</a:p>
        </p:txBody>
      </p:sp>
      <p:pic>
        <p:nvPicPr>
          <p:cNvPr id="155" name="Google Shape;155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161" name="Google Shape;161;p17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Questions</a:t>
            </a: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843</Words>
  <Application>Microsoft Office PowerPoint</Application>
  <PresentationFormat>On-screen Show (4:3)</PresentationFormat>
  <Paragraphs>100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Poppins Medium</vt:lpstr>
      <vt:lpstr>Calibri</vt:lpstr>
      <vt:lpstr>Times New Roman</vt:lpstr>
      <vt:lpstr>Century Schoolbook</vt:lpstr>
      <vt:lpstr>Poppins</vt:lpstr>
      <vt:lpstr>Office Theme</vt:lpstr>
      <vt:lpstr>“Secure Cloud Storage To Farm Data”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“Secure Cloud Storage To Farm Data”</dc:title>
  <dc:creator>Hp</dc:creator>
  <cp:lastModifiedBy>HP</cp:lastModifiedBy>
  <cp:revision>14</cp:revision>
  <dcterms:created xsi:type="dcterms:W3CDTF">2018-12-06T11:05:00Z</dcterms:created>
  <dcterms:modified xsi:type="dcterms:W3CDTF">2025-11-11T05:28:49Z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2017-02-01T11:00:00Z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2018-12-06T11:00:00Z</vt:filetime>
  </property>
  <property fmtid="{D5CDD505-2E9C-101B-9397-08002B2CF9AE}" pid="5" name="ICV">
    <vt:lpwstr>FE8A3D85241E4E7C82A3900E2AF98874_12</vt:lpwstr>
  </property>
  <property fmtid="{D5CDD505-2E9C-101B-9397-08002B2CF9AE}" pid="6" name="KSOProductBuildVer">
    <vt:lpwstr>1033-12.2.0.22549</vt:lpwstr>
  </property>
</Properties>
</file>